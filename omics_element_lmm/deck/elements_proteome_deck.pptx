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0402679-8b46-eb2e-52bc-680cb122b3a9}">
          <p14:sldIdLst>
            <p14:sldId id="256"/>
            <p14:sldId id="257"/>
            <p14:sldId id="258"/>
          </p14:sldIdLst>
        </p14:section>
        <p14:section name="Elements" id="{e030f993-ce67-45d3-c817-7ea88a7654f3}">
          <p14:sldIdLst>
            <p14:sldId id="259"/>
            <p14:sldId id="260"/>
            <p14:sldId id="261"/>
            <p14:sldId id="262"/>
            <p14:sldId id="263"/>
          </p14:sldIdLst>
        </p14:section>
        <p14:section name="Held-out animals" id="{5d98af47-4db5-c3e7-87f2-e168b689bb84}">
          <p14:sldIdLst>
            <p14:sldId id="264"/>
          </p14:sldIdLst>
        </p14:section>
        <p14:section name="Ratios" id="{8028507c-9ce5-e406-e840-9f0271076f2e}">
          <p14:sldIdLst>
            <p14:sldId id="265"/>
            <p14:sldId id="266"/>
          </p14:sldIdLst>
        </p14:section>
        <p14:section name="Known proteins" id="{f74f7546-e863-8db2-7720-833a555d32ba}">
          <p14:sldIdLst>
            <p14:sldId id="267"/>
            <p14:sldId id="268"/>
          </p14:sldIdLst>
        </p14:section>
        <p14:section name="Close" id="{802922e1-ed8e-63ec-b41f-e15be6b96bbe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233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3233F"/>
                </a:solidFill>
                <a:latin typeface="+mn-lt"/>
              </a:rPr>
              <a:t>Proteins at FDR &lt; 0.05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Element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3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Na</c:v>
                  </c:pt>
                  <c:pt idx="1">
                    <c:v>Mg</c:v>
                  </c:pt>
                  <c:pt idx="2">
                    <c:v>P</c:v>
                  </c:pt>
                  <c:pt idx="3">
                    <c:v>K</c:v>
                  </c:pt>
                  <c:pt idx="4">
                    <c:v>Ca</c:v>
                  </c:pt>
                  <c:pt idx="5">
                    <c:v>Fe</c:v>
                  </c:pt>
                  <c:pt idx="6">
                    <c:v>Cu</c:v>
                  </c:pt>
                  <c:pt idx="7">
                    <c:v>Zn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Viral load (same model)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3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Na</c:v>
                  </c:pt>
                  <c:pt idx="1">
                    <c:v>Mg</c:v>
                  </c:pt>
                  <c:pt idx="2">
                    <c:v>P</c:v>
                  </c:pt>
                  <c:pt idx="3">
                    <c:v>K</c:v>
                  </c:pt>
                  <c:pt idx="4">
                    <c:v>Ca</c:v>
                  </c:pt>
                  <c:pt idx="5">
                    <c:v>Fe</c:v>
                  </c:pt>
                  <c:pt idx="6">
                    <c:v>Cu</c:v>
                  </c:pt>
                  <c:pt idx="7">
                    <c:v>Zn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75</c:v>
                </c:pt>
                <c:pt idx="1">
                  <c:v>21</c:v>
                </c:pt>
                <c:pt idx="2">
                  <c:v>2</c:v>
                </c:pt>
                <c:pt idx="3">
                  <c:v>41</c:v>
                </c:pt>
                <c:pt idx="4">
                  <c:v>62</c:v>
                </c:pt>
                <c:pt idx="5">
                  <c:v>23</c:v>
                </c:pt>
                <c:pt idx="6">
                  <c:v>28</c:v>
                </c:pt>
                <c:pt idx="7">
                  <c:v>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3233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3233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E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3233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3233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3F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Plasma elements and the proteome in ART-treated macaques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490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Within-animal analysis of 8 elements, 6 ratios and 11,011 plasma proteins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C3EF"/>
                </a:solidFill>
              </a:rPr>
              <a:t>27 samples  |  8 animals  |  viral load, ART stage and 7 naive animals as reference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Small cohort, so every animal is its own baseline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2615184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72768"/>
            <a:ext cx="2340864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70709"/>
            <a:ext cx="2340864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samples with proteomics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3364992" y="1463040"/>
            <a:ext cx="2615184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02152" y="1572768"/>
            <a:ext cx="2340864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502152" y="2470709"/>
            <a:ext cx="2340864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animals (5 with repeated samples)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181344" y="1463040"/>
            <a:ext cx="2615184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18504" y="1572768"/>
            <a:ext cx="2340864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11,011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318504" y="2470709"/>
            <a:ext cx="2340864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plasma proteins (SomaScan)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8997696" y="1463040"/>
            <a:ext cx="2615184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34856" y="1572768"/>
            <a:ext cx="2340864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9134856" y="2470709"/>
            <a:ext cx="2340864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variables: 8 elements + 6 ratios</a:t>
            </a:r>
            <a:endParaRPr lang="en-US" sz="1400" dirty="0"/>
          </a:p>
        </p:txBody>
      </p:sp>
      <p:sp>
        <p:nvSpPr>
          <p:cNvPr id="15" name="step"/>
          <p:cNvSpPr/>
          <p:nvPr/>
        </p:nvSpPr>
        <p:spPr>
          <a:xfrm>
            <a:off x="548640" y="3657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6576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Each animal's own mean is removed, so animal, cohort and slide offsets cannot create associations</a:t>
            </a:r>
            <a:endParaRPr lang="en-US" sz="1800" dirty="0"/>
          </a:p>
        </p:txBody>
      </p:sp>
      <p:sp>
        <p:nvSpPr>
          <p:cNvPr id="18" name="step"/>
          <p:cNvSpPr/>
          <p:nvPr/>
        </p:nvSpPr>
        <p:spPr>
          <a:xfrm>
            <a:off x="548640" y="4526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5262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Permutation p-values (element shuffled within animals) and FDR across proteins</a:t>
            </a:r>
            <a:endParaRPr lang="en-US" sz="1800" dirty="0"/>
          </a:p>
        </p:txBody>
      </p:sp>
      <p:sp>
        <p:nvSpPr>
          <p:cNvPr id="21" name="step"/>
          <p:cNvSpPr/>
          <p:nvPr/>
        </p:nvSpPr>
        <p:spPr>
          <a:xfrm>
            <a:off x="548640" y="5394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3949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Model: protein ~ element + log10 viral load; viral load stands in for ART time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Four findings, from strongest to most speculative</a:t>
            </a:r>
            <a:endParaRPr lang="en-US" sz="2800" dirty="0"/>
          </a:p>
        </p:txBody>
      </p:sp>
      <p:sp>
        <p:nvSpPr>
          <p:cNvPr id="3" name="finding card"/>
          <p:cNvSpPr/>
          <p:nvPr/>
        </p:nvSpPr>
        <p:spPr>
          <a:xfrm>
            <a:off x="548640" y="146304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Viral load outweighs the elements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2-75 proteins pass FDR&lt;0.05 for viral load; at most 3 do for any element (Mg, P). P is the one exception</a:t>
            </a:r>
            <a:endParaRPr lang="en-US" sz="1700" dirty="0"/>
          </a:p>
        </p:txBody>
      </p:sp>
      <p:sp>
        <p:nvSpPr>
          <p:cNvPr id="6" name="finding card"/>
          <p:cNvSpPr/>
          <p:nvPr/>
        </p:nvSpPr>
        <p:spPr>
          <a:xfrm>
            <a:off x="6217920" y="146304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916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Mg and Cu are predictable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4231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Predicted from the proteome in unseen animals: rho 0.56 (Mg) and 0.49 (Cu), time-adjusted</a:t>
            </a:r>
            <a:endParaRPr lang="en-US" sz="1700" dirty="0"/>
          </a:p>
        </p:txBody>
      </p:sp>
      <p:sp>
        <p:nvSpPr>
          <p:cNvPr id="9" name="finding card"/>
          <p:cNvSpPr/>
          <p:nvPr/>
        </p:nvSpPr>
        <p:spPr>
          <a:xfrm>
            <a:off x="548640" y="393192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1605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Mg and P track platelet proteins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892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Platelet set test p=0.002 (Mg) and 0.004 (P): a cell-content signal</a:t>
            </a:r>
            <a:endParaRPr lang="en-US" sz="1700" dirty="0"/>
          </a:p>
        </p:txBody>
      </p:sp>
      <p:sp>
        <p:nvSpPr>
          <p:cNvPr id="12" name="finding card"/>
          <p:cNvSpPr/>
          <p:nvPr/>
        </p:nvSpPr>
        <p:spPr>
          <a:xfrm>
            <a:off x="6217920" y="393192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41605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 tracks acute-phase proteins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892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CRP, SAA1, HP rise with Cu (set test p=0.008): a lead for new samples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Elements shift with ART stage, but naive animals are a different cohort</a:t>
            </a:r>
            <a:endParaRPr lang="en-US" sz="2800" dirty="0"/>
          </a:p>
        </p:txBody>
      </p:sp>
      <p:pic>
        <p:nvPicPr>
          <p:cNvPr id="3" name="Image 0" descr="img/fig_elements_s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0146890" cy="3931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4406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 and Mg rise over treatment weeks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Na, K and Ca are lower in infected than naive animals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6309360" y="54406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 is higher before ART than in naive animals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Naive animals are unmatched: differences may be batch or cohort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Mg: 3 proteins pass FDR&lt;0.05, far more than chance reach p&lt;0.001</a:t>
            </a:r>
            <a:endParaRPr lang="en-US" sz="2800" dirty="0"/>
          </a:p>
        </p:txBody>
      </p:sp>
      <p:pic>
        <p:nvPicPr>
          <p:cNvPr id="3" name="Image 0" descr="img/el_M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2838315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548640" y="452628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4636008"/>
            <a:ext cx="32918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5454396"/>
            <a:ext cx="32918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proteins at FDR&lt;0.05 (element)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297680" y="452628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34840" y="4636008"/>
            <a:ext cx="32918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4434840" y="5454396"/>
            <a:ext cx="32918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proteins at p&lt;0.001 (chance: 11)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046720" y="452628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83880" y="4636008"/>
            <a:ext cx="32918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5454396"/>
            <a:ext cx="32918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proteins at FDR&lt;0.05 (viral load)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Cu: 37 proteins at p&lt;0.001, none at FDR&lt;0.05</a:t>
            </a:r>
            <a:endParaRPr lang="en-US" sz="2800" dirty="0"/>
          </a:p>
        </p:txBody>
      </p:sp>
      <p:pic>
        <p:nvPicPr>
          <p:cNvPr id="3" name="Image 0" descr="img/el_C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2838315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548640" y="452628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4636008"/>
            <a:ext cx="32918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5454396"/>
            <a:ext cx="32918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proteins at FDR&lt;0.05 (element)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297680" y="452628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34840" y="4636008"/>
            <a:ext cx="32918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4434840" y="5454396"/>
            <a:ext cx="32918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proteins at p&lt;0.001 (chance: 11)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046720" y="452628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83880" y="4636008"/>
            <a:ext cx="32918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5454396"/>
            <a:ext cx="32918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proteins at FDR&lt;0.05 (viral load)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Fe: indistinguishable from chance</a:t>
            </a:r>
            <a:endParaRPr lang="en-US" sz="2800" dirty="0"/>
          </a:p>
        </p:txBody>
      </p:sp>
      <p:pic>
        <p:nvPicPr>
          <p:cNvPr id="3" name="Image 0" descr="img/el_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2838315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548640" y="452628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4636008"/>
            <a:ext cx="32918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5454396"/>
            <a:ext cx="32918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proteins at FDR&lt;0.05 (element)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297680" y="452628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34840" y="4636008"/>
            <a:ext cx="32918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4434840" y="5454396"/>
            <a:ext cx="32918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proteins at p&lt;0.001 (chance: 11)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046720" y="452628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83880" y="4636008"/>
            <a:ext cx="32918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5454396"/>
            <a:ext cx="32918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proteins at FDR&lt;0.05 (viral load)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Viral load outweighs the elements in the proteome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73152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229600" y="1645920"/>
            <a:ext cx="3474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protein passes FDR&lt;0.05 for both an element and viral load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 is the exception: 3 element hits vs 2 for viral load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At p&lt;0.01 the overlap is near what the two hit lists predict for Mg, P and Fe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Na and Ca overlap more than expected (27 vs 10, 49 vs 14)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Mg and Cu are predicted from the proteome in animals the model never saw</a:t>
            </a:r>
            <a:endParaRPr lang="en-US" sz="2800" dirty="0"/>
          </a:p>
        </p:txBody>
      </p:sp>
      <p:pic>
        <p:nvPicPr>
          <p:cNvPr id="3" name="Image 0" descr="img/loao_ele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541564" cy="4937760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8412480" y="1463040"/>
            <a:ext cx="32004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549640" y="1572768"/>
            <a:ext cx="292608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0.56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8549640" y="2311603"/>
            <a:ext cx="292608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Mg  (p=0.005)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8412480" y="3108960"/>
            <a:ext cx="32004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49640" y="3218688"/>
            <a:ext cx="292608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0.49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549640" y="3957523"/>
            <a:ext cx="292608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  (p=0.03)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412480" y="4754880"/>
            <a:ext cx="32004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49640" y="4864608"/>
            <a:ext cx="292608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0.31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8549640" y="5603443"/>
            <a:ext cx="292608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  (p=0.10)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Spearman, predicted vs observed, time trend removed. Na, K, Ca, Fe, Zn: not predicted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Ca/Mg is the only ratio with FDR-significant proteins, all driven by Mg</a:t>
            </a:r>
            <a:endParaRPr lang="en-US" sz="2800" dirty="0"/>
          </a:p>
        </p:txBody>
      </p:sp>
      <p:pic>
        <p:nvPicPr>
          <p:cNvPr id="3" name="Image 0" descr="img/rt_CaM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2838315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548640" y="452628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4636008"/>
            <a:ext cx="32918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5454396"/>
            <a:ext cx="32918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proteins at FDR&lt;0.05 for Ca/Mg (Mg alone: 3)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297680" y="452628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34840" y="4636008"/>
            <a:ext cx="32918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4434840" y="5454396"/>
            <a:ext cx="32918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proteins at p&lt;0.001 (chance: 11)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046720" y="452628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83880" y="4636008"/>
            <a:ext cx="32918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5454396"/>
            <a:ext cx="32918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proteins at FDR&lt;0.05 for Fe/Cu (60 at p&lt;0.001)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Cu/Zn is predicted in unseen animals; Fe/Cu is borderline</a:t>
            </a:r>
            <a:endParaRPr lang="en-US" sz="2800" dirty="0"/>
          </a:p>
        </p:txBody>
      </p:sp>
      <p:pic>
        <p:nvPicPr>
          <p:cNvPr id="3" name="Image 0" descr="img/loao_rati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046720" cy="4674247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8869680" y="1554480"/>
            <a:ext cx="274320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006840" y="1664208"/>
            <a:ext cx="2468880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0.54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9006840" y="2456078"/>
            <a:ext cx="246888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Cu/Zn  (p=0.025)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8869680" y="3291840"/>
            <a:ext cx="274320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006840" y="3401568"/>
            <a:ext cx="2468880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0.35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9006840" y="4193438"/>
            <a:ext cx="246888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Fe/Cu  (p=0.08)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869680" y="5120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Fe/Zn, Na/K, Ca/Mg, Ca/P: not predicted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Known protein groups: platelet, calcium/bone and iron sets stand out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39511"/>
                <a:gridCol w="839511"/>
                <a:gridCol w="839511"/>
                <a:gridCol w="839511"/>
                <a:gridCol w="839511"/>
                <a:gridCol w="839511"/>
                <a:gridCol w="839511"/>
                <a:gridCol w="839511"/>
                <a:gridCol w="839511"/>
                <a:gridCol w="839511"/>
                <a:gridCol w="839511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 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Cu/Zn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Fe/Cu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7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D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D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Zinc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Calcium/bone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7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D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Na/K transport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D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Acute phase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7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Interferon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7B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Platelet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7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7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7B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cell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Set-test p-values (mean squared within-animal t of the group vs shuffled element). Shaded: p&lt;0.05, darker: p&lt;0.01. Not corrected across groups.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Individual known proteins: Cu rises with inflammation markers</a:t>
            </a:r>
            <a:endParaRPr lang="en-US" sz="2800" dirty="0"/>
          </a:p>
        </p:txBody>
      </p:sp>
      <p:pic>
        <p:nvPicPr>
          <p:cNvPr id="3" name="Image 0" descr="img/volcano_kn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772400" cy="4749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595360" y="1645920"/>
            <a:ext cx="3108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Cu: CXCL10, CRP, SAA1, HP up; GSN down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Mg and P: MYL9, MYL12A, GP1BB (platelet) up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Viral load: ISG15, MX1 up (expected interferon response)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Limits and next steps</a:t>
            </a:r>
            <a:endParaRPr lang="en-US" sz="2800" dirty="0"/>
          </a:p>
        </p:txBody>
      </p:sp>
      <p:sp>
        <p:nvSpPr>
          <p:cNvPr id="3" name="column card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8 animals, 24 usable samples: only large effects are detectable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Slide is almost the same as animal, so slide effects cannot be fully separated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Viral load is 94% explained by time, so it stands in for ART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Group-test p-values are not corrected across groups</a:t>
            </a:r>
            <a:endParaRPr lang="en-US" sz="1600" dirty="0"/>
          </a:p>
        </p:txBody>
      </p:sp>
      <p:sp>
        <p:nvSpPr>
          <p:cNvPr id="6" name="column card"/>
          <p:cNvSpPr/>
          <p:nvPr/>
        </p:nvSpPr>
        <p:spPr>
          <a:xfrm>
            <a:off x="6217920" y="1463040"/>
            <a:ext cx="539496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3774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Validate the Cu acute-phase link in new samples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Spread each animal's time points across slides in the next run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Check free hemoglobin and platelet counts for the Mg/P signal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Add the UniProt metal-binding sets (needs internet in Colab)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mentsProteome">
  <a:themeElements>
    <a:clrScheme name="ElementsProteome">
      <a:dk1>
        <a:srgbClr val="13233F"/>
      </a:dk1>
      <a:lt1>
        <a:srgbClr val="FFFFFF"/>
      </a:lt1>
      <a:dk2>
        <a:srgbClr val="0B3F7E"/>
      </a:dk2>
      <a:lt2>
        <a:srgbClr val="EEF3FA"/>
      </a:lt2>
      <a:accent1>
        <a:srgbClr val="2A78D6"/>
      </a:accent1>
      <a:accent2>
        <a:srgbClr val="EB6834"/>
      </a:accent2>
      <a:accent3>
        <a:srgbClr val="1BAF7A"/>
      </a:accent3>
      <a:accent4>
        <a:srgbClr val="6250D6"/>
      </a:accent4>
      <a:accent5>
        <a:srgbClr val="EDA100"/>
      </a:accent5>
      <a:accent6>
        <a:srgbClr val="8A8A85"/>
      </a:accent6>
      <a:hlink>
        <a:srgbClr val="2A78D6"/>
      </a:hlink>
      <a:folHlink>
        <a:srgbClr val="6250D6"/>
      </a:folHlink>
    </a:clrScheme>
    <a:fontScheme name="ElementsProteom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Plasma elements and the proteome in ART-treated macaques</dc:title>
  <dc:subject>PptxGenJS Presentation</dc:subject>
  <dc:creator>PptxGenJS</dc:creator>
  <cp:lastModifiedBy>PptxGenJS</cp:lastModifiedBy>
  <cp:revision>1</cp:revision>
  <dcterms:created xsi:type="dcterms:W3CDTF">2026-10-22T13:56:17Z</dcterms:created>
  <dcterms:modified xsi:type="dcterms:W3CDTF">2026-10-22T13:56:17Z</dcterms:modified>
</cp:coreProperties>
</file>