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c75c555f-3a99-59d1-9971-32dfca3c9ca6}">
          <p14:sldIdLst>
            <p14:sldId id="256"/>
            <p14:sldId id="257"/>
            <p14:sldId id="258"/>
          </p14:sldIdLst>
        </p14:section>
        <p14:section name="Elements" id="{28fb60cd-556d-18e0-85a7-95fb10b32e72}">
          <p14:sldIdLst>
            <p14:sldId id="259"/>
            <p14:sldId id="260"/>
            <p14:sldId id="261"/>
            <p14:sldId id="262"/>
            <p14:sldId id="263"/>
          </p14:sldIdLst>
        </p14:section>
        <p14:section name="Held-out animals" id="{8843b982-2177-ffba-cfd1-22e8aaea14b4}">
          <p14:sldIdLst>
            <p14:sldId id="264"/>
          </p14:sldIdLst>
        </p14:section>
        <p14:section name="Ratios" id="{00d70909-6f21-3f4f-c101-d628e87ef860}">
          <p14:sldIdLst>
            <p14:sldId id="265"/>
            <p14:sldId id="266"/>
          </p14:sldIdLst>
        </p14:section>
        <p14:section name="Known proteins" id="{c8d8990c-01f0-9e67-6564-9f50f8b96736}">
          <p14:sldIdLst>
            <p14:sldId id="267"/>
            <p14:sldId id="268"/>
          </p14:sldIdLst>
        </p14:section>
        <p14:section name="Close" id="{5398e42a-7cba-3405-b11c-066db2647e34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3233F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3233F"/>
                </a:solidFill>
                <a:latin typeface="+mn-lt"/>
              </a:rPr>
              <a:t>Proteins at FDR &lt; 0.10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Element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3233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Na</c:v>
                  </c:pt>
                  <c:pt idx="1">
                    <c:v>Mg</c:v>
                  </c:pt>
                  <c:pt idx="2">
                    <c:v>P</c:v>
                  </c:pt>
                  <c:pt idx="3">
                    <c:v>K</c:v>
                  </c:pt>
                  <c:pt idx="4">
                    <c:v>Ca</c:v>
                  </c:pt>
                  <c:pt idx="5">
                    <c:v>Fe</c:v>
                  </c:pt>
                  <c:pt idx="6">
                    <c:v>Cu</c:v>
                  </c:pt>
                  <c:pt idx="7">
                    <c:v>Zn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</c:v>
                </c:pt>
                <c:pt idx="1">
                  <c:v>3</c:v>
                </c:pt>
                <c:pt idx="2">
                  <c:v>11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Viral load (same model)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3233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Na</c:v>
                  </c:pt>
                  <c:pt idx="1">
                    <c:v>Mg</c:v>
                  </c:pt>
                  <c:pt idx="2">
                    <c:v>P</c:v>
                  </c:pt>
                  <c:pt idx="3">
                    <c:v>K</c:v>
                  </c:pt>
                  <c:pt idx="4">
                    <c:v>Ca</c:v>
                  </c:pt>
                  <c:pt idx="5">
                    <c:v>Fe</c:v>
                  </c:pt>
                  <c:pt idx="6">
                    <c:v>Cu</c:v>
                  </c:pt>
                  <c:pt idx="7">
                    <c:v>Zn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356</c:v>
                </c:pt>
                <c:pt idx="1">
                  <c:v>123</c:v>
                </c:pt>
                <c:pt idx="2">
                  <c:v>18</c:v>
                </c:pt>
                <c:pt idx="3">
                  <c:v>172</c:v>
                </c:pt>
                <c:pt idx="4">
                  <c:v>348</c:v>
                </c:pt>
                <c:pt idx="5">
                  <c:v>106</c:v>
                </c:pt>
                <c:pt idx="6">
                  <c:v>169</c:v>
                </c:pt>
                <c:pt idx="7">
                  <c:v>146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3233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3233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3233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3233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0B3F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828800"/>
            <a:ext cx="1069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Plasma elements and the proteome in ART-treated macaques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74904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Within-animal analysis of 8 elements, 6 ratios and 11,011 plasma proteins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5720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CC3EF"/>
                </a:solidFill>
              </a:rPr>
              <a:t>27 samples  |  8 animals  |  viral load, ART stage and 7 naive animals as reference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Small cohort, so every animal is its own baseline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548640" y="1463040"/>
            <a:ext cx="2615184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572768"/>
            <a:ext cx="2340864" cy="9034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470709"/>
            <a:ext cx="2340864" cy="6601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samples with proteomics</a:t>
            </a:r>
            <a:endParaRPr lang="en-US" sz="1400" dirty="0"/>
          </a:p>
        </p:txBody>
      </p:sp>
      <p:sp>
        <p:nvSpPr>
          <p:cNvPr id="6" name="card"/>
          <p:cNvSpPr/>
          <p:nvPr/>
        </p:nvSpPr>
        <p:spPr>
          <a:xfrm>
            <a:off x="3364992" y="1463040"/>
            <a:ext cx="2615184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02152" y="1572768"/>
            <a:ext cx="2340864" cy="9034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3502152" y="2470709"/>
            <a:ext cx="2340864" cy="6601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animals (5 with repeated samples)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181344" y="1463040"/>
            <a:ext cx="2615184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18504" y="1572768"/>
            <a:ext cx="2340864" cy="9034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11,011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6318504" y="2470709"/>
            <a:ext cx="2340864" cy="6601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plasma proteins (SomaScan)</a:t>
            </a:r>
            <a:endParaRPr lang="en-US" sz="1400" dirty="0"/>
          </a:p>
        </p:txBody>
      </p:sp>
      <p:sp>
        <p:nvSpPr>
          <p:cNvPr id="12" name="card"/>
          <p:cNvSpPr/>
          <p:nvPr/>
        </p:nvSpPr>
        <p:spPr>
          <a:xfrm>
            <a:off x="8997696" y="1463040"/>
            <a:ext cx="2615184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34856" y="1572768"/>
            <a:ext cx="2340864" cy="9034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9134856" y="2470709"/>
            <a:ext cx="2340864" cy="6601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variables: 8 elements + 6 ratios</a:t>
            </a:r>
            <a:endParaRPr lang="en-US" sz="1400" dirty="0"/>
          </a:p>
        </p:txBody>
      </p:sp>
      <p:sp>
        <p:nvSpPr>
          <p:cNvPr id="15" name="step"/>
          <p:cNvSpPr/>
          <p:nvPr/>
        </p:nvSpPr>
        <p:spPr>
          <a:xfrm>
            <a:off x="548640" y="36576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65760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Each animal's own mean is removed, so animal, cohort and slide offsets cannot create associations</a:t>
            </a:r>
            <a:endParaRPr lang="en-US" sz="1800" dirty="0"/>
          </a:p>
        </p:txBody>
      </p:sp>
      <p:sp>
        <p:nvSpPr>
          <p:cNvPr id="18" name="step"/>
          <p:cNvSpPr/>
          <p:nvPr/>
        </p:nvSpPr>
        <p:spPr>
          <a:xfrm>
            <a:off x="548640" y="45262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526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1325880" y="452628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Permutation p-values (element shuffled within animals) and FDR across proteins</a:t>
            </a:r>
            <a:endParaRPr lang="en-US" sz="1800" dirty="0"/>
          </a:p>
        </p:txBody>
      </p:sp>
      <p:sp>
        <p:nvSpPr>
          <p:cNvPr id="21" name="step"/>
          <p:cNvSpPr/>
          <p:nvPr/>
        </p:nvSpPr>
        <p:spPr>
          <a:xfrm>
            <a:off x="548640" y="53949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5394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1325880" y="539496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Model: protein ~ element + log10 viral load; viral load stands in for ART time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Four findings, from strongest to most speculative</a:t>
            </a:r>
            <a:endParaRPr lang="en-US" sz="2800" dirty="0"/>
          </a:p>
        </p:txBody>
      </p:sp>
      <p:sp>
        <p:nvSpPr>
          <p:cNvPr id="3" name="finding card"/>
          <p:cNvSpPr/>
          <p:nvPr/>
        </p:nvSpPr>
        <p:spPr>
          <a:xfrm>
            <a:off x="548640" y="1463040"/>
            <a:ext cx="539496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Viral load dominates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42316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106-356 proteins pass FDR&lt;0.10 for viral load; at most 11 do for any element</a:t>
            </a:r>
            <a:endParaRPr lang="en-US" sz="1700" dirty="0"/>
          </a:p>
        </p:txBody>
      </p:sp>
      <p:sp>
        <p:nvSpPr>
          <p:cNvPr id="6" name="finding card"/>
          <p:cNvSpPr/>
          <p:nvPr/>
        </p:nvSpPr>
        <p:spPr>
          <a:xfrm>
            <a:off x="6217920" y="1463040"/>
            <a:ext cx="539496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92240" y="169164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Mg and Cu are predictable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242316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Predicted from the proteome in unseen animals: rho 0.56 (Mg) and 0.49 (Cu), time-adjusted</a:t>
            </a:r>
            <a:endParaRPr lang="en-US" sz="1700" dirty="0"/>
          </a:p>
        </p:txBody>
      </p:sp>
      <p:sp>
        <p:nvSpPr>
          <p:cNvPr id="9" name="finding card"/>
          <p:cNvSpPr/>
          <p:nvPr/>
        </p:nvSpPr>
        <p:spPr>
          <a:xfrm>
            <a:off x="548640" y="3931920"/>
            <a:ext cx="539496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416052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Mg and P track platelet proteins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8920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Platelet set test p=0.002 (Mg) and 0.004 (P): a cell-content signal</a:t>
            </a:r>
            <a:endParaRPr lang="en-US" sz="1700" dirty="0"/>
          </a:p>
        </p:txBody>
      </p:sp>
      <p:sp>
        <p:nvSpPr>
          <p:cNvPr id="12" name="finding card"/>
          <p:cNvSpPr/>
          <p:nvPr/>
        </p:nvSpPr>
        <p:spPr>
          <a:xfrm>
            <a:off x="6217920" y="3931920"/>
            <a:ext cx="539496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92240" y="416052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 tracks acute-phase proteins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48920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CRP, SAA1, HP rise with Cu (set test p=0.008): a lead for new samples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Elements shift with ART stage, but naive animals are a different cohort</a:t>
            </a:r>
            <a:endParaRPr lang="en-US" sz="2800" dirty="0"/>
          </a:p>
        </p:txBody>
      </p:sp>
      <p:pic>
        <p:nvPicPr>
          <p:cNvPr id="3" name="Image 0" descr="img/fig_elements_st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10146890" cy="39319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440680"/>
            <a:ext cx="539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 and Mg rise over treatment weeks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Na, K and Ca are lower in infected than naive animals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6309360" y="5440680"/>
            <a:ext cx="539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Cu is higher before ART than in naive animals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Naive animals are unmatched: differences may be batch or cohort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Mg: few proteins pass FDR, but far more than chance reach p&lt;0.001</a:t>
            </a:r>
            <a:endParaRPr lang="en-US" sz="2800" dirty="0"/>
          </a:p>
        </p:txBody>
      </p:sp>
      <p:pic>
        <p:nvPicPr>
          <p:cNvPr id="3" name="Image 0" descr="img/el_M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11064240" cy="2838315"/>
          </a:xfrm>
          <a:prstGeom prst="rect">
            <a:avLst/>
          </a:prstGeom>
        </p:spPr>
      </p:pic>
      <p:sp>
        <p:nvSpPr>
          <p:cNvPr id="4" name="card"/>
          <p:cNvSpPr/>
          <p:nvPr/>
        </p:nvSpPr>
        <p:spPr>
          <a:xfrm>
            <a:off x="548640" y="4526280"/>
            <a:ext cx="356616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85800" y="4636008"/>
            <a:ext cx="32918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5454396"/>
            <a:ext cx="3291840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proteins at FDR&lt;0.10 (element)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4297680" y="4526280"/>
            <a:ext cx="356616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434840" y="4636008"/>
            <a:ext cx="32918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4434840" y="5454396"/>
            <a:ext cx="3291840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proteins at p&lt;0.001 (chance: 11)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8046720" y="4526280"/>
            <a:ext cx="356616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183880" y="4636008"/>
            <a:ext cx="32918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123</a:t>
            </a:r>
            <a:endParaRPr lang="en-US" sz="40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5454396"/>
            <a:ext cx="3291840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proteins at FDR&lt;0.10 (viral load)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Cu: 37 proteins at p&lt;0.001, none at FDR&lt;0.10</a:t>
            </a:r>
            <a:endParaRPr lang="en-US" sz="2800" dirty="0"/>
          </a:p>
        </p:txBody>
      </p:sp>
      <p:pic>
        <p:nvPicPr>
          <p:cNvPr id="3" name="Image 0" descr="img/el_C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11064240" cy="2838315"/>
          </a:xfrm>
          <a:prstGeom prst="rect">
            <a:avLst/>
          </a:prstGeom>
        </p:spPr>
      </p:pic>
      <p:sp>
        <p:nvSpPr>
          <p:cNvPr id="4" name="card"/>
          <p:cNvSpPr/>
          <p:nvPr/>
        </p:nvSpPr>
        <p:spPr>
          <a:xfrm>
            <a:off x="548640" y="4526280"/>
            <a:ext cx="356616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85800" y="4636008"/>
            <a:ext cx="32918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5454396"/>
            <a:ext cx="3291840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proteins at FDR&lt;0.10 (element)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4297680" y="4526280"/>
            <a:ext cx="356616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434840" y="4636008"/>
            <a:ext cx="32918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4434840" y="5454396"/>
            <a:ext cx="3291840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proteins at p&lt;0.001 (chance: 11)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8046720" y="4526280"/>
            <a:ext cx="356616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183880" y="4636008"/>
            <a:ext cx="32918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169</a:t>
            </a:r>
            <a:endParaRPr lang="en-US" sz="40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5454396"/>
            <a:ext cx="3291840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proteins at FDR&lt;0.10 (viral load)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Fe: indistinguishable from chance</a:t>
            </a:r>
            <a:endParaRPr lang="en-US" sz="2800" dirty="0"/>
          </a:p>
        </p:txBody>
      </p:sp>
      <p:pic>
        <p:nvPicPr>
          <p:cNvPr id="3" name="Image 0" descr="img/el_F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11064240" cy="2838315"/>
          </a:xfrm>
          <a:prstGeom prst="rect">
            <a:avLst/>
          </a:prstGeom>
        </p:spPr>
      </p:pic>
      <p:sp>
        <p:nvSpPr>
          <p:cNvPr id="4" name="card"/>
          <p:cNvSpPr/>
          <p:nvPr/>
        </p:nvSpPr>
        <p:spPr>
          <a:xfrm>
            <a:off x="548640" y="4526280"/>
            <a:ext cx="356616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85800" y="4636008"/>
            <a:ext cx="32918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5454396"/>
            <a:ext cx="3291840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proteins at FDR&lt;0.10 (element)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4297680" y="4526280"/>
            <a:ext cx="356616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434840" y="4636008"/>
            <a:ext cx="32918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4434840" y="5454396"/>
            <a:ext cx="3291840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proteins at p&lt;0.001 (chance: 11)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8046720" y="4526280"/>
            <a:ext cx="356616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183880" y="4636008"/>
            <a:ext cx="32918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106</a:t>
            </a:r>
            <a:endParaRPr lang="en-US" sz="40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5454396"/>
            <a:ext cx="3291840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proteins at FDR&lt;0.10 (viral load)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Viral load, not the element, drives the proteome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71600"/>
          <a:ext cx="7315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229600" y="1645920"/>
            <a:ext cx="34747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No protein passes FDR&lt;0.10 for both an element and viral load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At p&lt;0.01 the overlap is near what the two hit lists predict for Mg, P and Fe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Na and Ca overlap more than expected (27 vs 10, 49 vs 14)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Mg and Cu are predicted from the proteome in animals the model never saw</a:t>
            </a:r>
            <a:endParaRPr lang="en-US" sz="2800" dirty="0"/>
          </a:p>
        </p:txBody>
      </p:sp>
      <p:pic>
        <p:nvPicPr>
          <p:cNvPr id="3" name="Image 0" descr="img/loao_eleme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7541564" cy="4937760"/>
          </a:xfrm>
          <a:prstGeom prst="rect">
            <a:avLst/>
          </a:prstGeom>
        </p:spPr>
      </p:pic>
      <p:sp>
        <p:nvSpPr>
          <p:cNvPr id="4" name="card"/>
          <p:cNvSpPr/>
          <p:nvPr/>
        </p:nvSpPr>
        <p:spPr>
          <a:xfrm>
            <a:off x="8412480" y="1463040"/>
            <a:ext cx="320040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549640" y="1572768"/>
            <a:ext cx="2926080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0.56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8549640" y="2311603"/>
            <a:ext cx="2926080" cy="555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Mg  (p=0.005)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8412480" y="3108960"/>
            <a:ext cx="320040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549640" y="3218688"/>
            <a:ext cx="2926080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0.49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8549640" y="3957523"/>
            <a:ext cx="2926080" cy="555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Cu  (p=0.03)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8412480" y="4754880"/>
            <a:ext cx="320040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549640" y="4864608"/>
            <a:ext cx="2926080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0.31</a:t>
            </a:r>
            <a:endParaRPr lang="en-US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8549640" y="5603443"/>
            <a:ext cx="2926080" cy="555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  (p=0.10)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412480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Spearman, predicted vs observed, time trend removed. Na, K, Ca, Fe, Zn: not predicted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Fe/Cu is the one ratio with a clear protein signal</a:t>
            </a:r>
            <a:endParaRPr lang="en-US" sz="2800" dirty="0"/>
          </a:p>
        </p:txBody>
      </p:sp>
      <p:pic>
        <p:nvPicPr>
          <p:cNvPr id="3" name="Image 0" descr="img/rt_FeC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11064240" cy="2838315"/>
          </a:xfrm>
          <a:prstGeom prst="rect">
            <a:avLst/>
          </a:prstGeom>
        </p:spPr>
      </p:pic>
      <p:sp>
        <p:nvSpPr>
          <p:cNvPr id="4" name="card"/>
          <p:cNvSpPr/>
          <p:nvPr/>
        </p:nvSpPr>
        <p:spPr>
          <a:xfrm>
            <a:off x="548640" y="4526280"/>
            <a:ext cx="356616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85800" y="4636008"/>
            <a:ext cx="32918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5454396"/>
            <a:ext cx="3291840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proteins at FDR&lt;0.10 for Fe/Cu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4297680" y="4526280"/>
            <a:ext cx="356616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434840" y="4636008"/>
            <a:ext cx="32918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4434840" y="5454396"/>
            <a:ext cx="3291840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proteins at p&lt;0.001 (chance: 11)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8046720" y="4526280"/>
            <a:ext cx="356616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183880" y="4636008"/>
            <a:ext cx="32918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490</a:t>
            </a:r>
            <a:endParaRPr lang="en-US" sz="40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5454396"/>
            <a:ext cx="3291840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for Ca/Mg, which just mirrors Mg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Cu/Zn is predicted in unseen animals; Fe/Cu is borderline</a:t>
            </a:r>
            <a:endParaRPr lang="en-US" sz="2800" dirty="0"/>
          </a:p>
        </p:txBody>
      </p:sp>
      <p:pic>
        <p:nvPicPr>
          <p:cNvPr id="3" name="Image 0" descr="img/loao_rati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8046720" cy="4674247"/>
          </a:xfrm>
          <a:prstGeom prst="rect">
            <a:avLst/>
          </a:prstGeom>
        </p:spPr>
      </p:pic>
      <p:sp>
        <p:nvSpPr>
          <p:cNvPr id="4" name="card"/>
          <p:cNvSpPr/>
          <p:nvPr/>
        </p:nvSpPr>
        <p:spPr>
          <a:xfrm>
            <a:off x="8869680" y="1554480"/>
            <a:ext cx="274320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006840" y="1664208"/>
            <a:ext cx="2468880" cy="8083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0.54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9006840" y="2456078"/>
            <a:ext cx="2468880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Cu/Zn  (p=0.025)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8869680" y="3291840"/>
            <a:ext cx="274320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006840" y="3401568"/>
            <a:ext cx="2468880" cy="8083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0.35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9006840" y="4193438"/>
            <a:ext cx="2468880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Fe/Cu  (p=0.08)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869680" y="51206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Fe/Zn, Na/K, Ca/Mg, Ca/P: not predicted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Known protein groups: platelet, calcium/bone and iron sets stand out</a:t>
            </a:r>
            <a:endParaRPr lang="en-US" sz="2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839511"/>
                <a:gridCol w="839511"/>
                <a:gridCol w="839511"/>
                <a:gridCol w="839511"/>
                <a:gridCol w="839511"/>
                <a:gridCol w="839511"/>
                <a:gridCol w="839511"/>
                <a:gridCol w="839511"/>
                <a:gridCol w="839511"/>
                <a:gridCol w="839511"/>
                <a:gridCol w="839511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Protein group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F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F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F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F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F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F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F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F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F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Cu/Zn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F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Fe/Cu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F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F7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3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3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3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3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3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3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3D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3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Copper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3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3D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3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Zinc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3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3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3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3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3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Calcium/bone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3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3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3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3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3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C7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3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3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3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3D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3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Na/K transport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3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3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3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3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3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3D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3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Acute phase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3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C7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3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3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3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Interferon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3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3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3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C7B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3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Platelet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3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C7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3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C7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3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C7B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3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 cell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235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Set-test p-values (mean squared within-animal t of the group vs shuffled element). Shaded: p&lt;0.05, darker: p&lt;0.01. Not corrected across groups.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Individual known proteins: Cu rises with inflammation markers</a:t>
            </a:r>
            <a:endParaRPr lang="en-US" sz="2800" dirty="0"/>
          </a:p>
        </p:txBody>
      </p:sp>
      <p:pic>
        <p:nvPicPr>
          <p:cNvPr id="3" name="Image 0" descr="img/volcano_know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7772400" cy="4749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595360" y="1645920"/>
            <a:ext cx="3108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Cu: CXCL10, CRP, SAA1, HP up; GSN down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Mg and P: MYL9, MYL12A, GP1BB (platelet) up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Viral load: ISG15, MX1 up (expected interferon response)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Limits and next steps</a:t>
            </a:r>
            <a:endParaRPr lang="en-US" sz="2800" dirty="0"/>
          </a:p>
        </p:txBody>
      </p:sp>
      <p:sp>
        <p:nvSpPr>
          <p:cNvPr id="3" name="column card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7744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8 animals, 24 usable samples: only large effects are detectable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Slide is almost the same as animal, so slide effects cannot be fully separated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Viral load is 94% explained by time, so it stands in for ART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Group-test p-values are not corrected across groups</a:t>
            </a:r>
            <a:endParaRPr lang="en-US" sz="1600" dirty="0"/>
          </a:p>
        </p:txBody>
      </p:sp>
      <p:sp>
        <p:nvSpPr>
          <p:cNvPr id="6" name="column card"/>
          <p:cNvSpPr/>
          <p:nvPr/>
        </p:nvSpPr>
        <p:spPr>
          <a:xfrm>
            <a:off x="6217920" y="1463040"/>
            <a:ext cx="5394960" cy="4572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92240" y="16459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237744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Validate Cu with acute-phase markers and Fe/Cu in new samples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Spread each animal's time points across slides in the next run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Check free hemoglobin and platelet counts for the Mg/P signal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Add the UniProt metal-binding sets (needs internet in Colab)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lementsProteome">
  <a:themeElements>
    <a:clrScheme name="ElementsProteome">
      <a:dk1>
        <a:srgbClr val="13233F"/>
      </a:dk1>
      <a:lt1>
        <a:srgbClr val="FFFFFF"/>
      </a:lt1>
      <a:dk2>
        <a:srgbClr val="0B3F7E"/>
      </a:dk2>
      <a:lt2>
        <a:srgbClr val="EEF3FA"/>
      </a:lt2>
      <a:accent1>
        <a:srgbClr val="2A78D6"/>
      </a:accent1>
      <a:accent2>
        <a:srgbClr val="EB6834"/>
      </a:accent2>
      <a:accent3>
        <a:srgbClr val="1BAF7A"/>
      </a:accent3>
      <a:accent4>
        <a:srgbClr val="6250D6"/>
      </a:accent4>
      <a:accent5>
        <a:srgbClr val="EDA100"/>
      </a:accent5>
      <a:accent6>
        <a:srgbClr val="8A8A85"/>
      </a:accent6>
      <a:hlink>
        <a:srgbClr val="2A78D6"/>
      </a:hlink>
      <a:folHlink>
        <a:srgbClr val="6250D6"/>
      </a:folHlink>
    </a:clrScheme>
    <a:fontScheme name="ElementsProteom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Plasma elements and the proteome in ART-treated macaques</dc:title>
  <dc:subject>PptxGenJS Presentation</dc:subject>
  <dc:creator>PptxGenJS</dc:creator>
  <cp:lastModifiedBy>PptxGenJS</cp:lastModifiedBy>
  <cp:revision>1</cp:revision>
  <dcterms:created xsi:type="dcterms:W3CDTF">2026-10-22T13:40:33Z</dcterms:created>
  <dcterms:modified xsi:type="dcterms:W3CDTF">2026-10-22T13:40:33Z</dcterms:modified>
</cp:coreProperties>
</file>